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4" roundtripDataSignature="AMtx7miBzcA2sc8L3sJBJ+dyDeje/gYR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c1783d6d0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1ac1783d6d0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47700" y="1181099"/>
            <a:ext cx="6864724" cy="3581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647700" y="5075227"/>
            <a:ext cx="6864724" cy="868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1981200" y="2362200"/>
            <a:ext cx="76962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1981200" y="5067300"/>
            <a:ext cx="7696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914400" y="1825625"/>
            <a:ext cx="49911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248400" y="1825625"/>
            <a:ext cx="5029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652371" y="647699"/>
            <a:ext cx="10625229" cy="1150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655863" y="1879599"/>
            <a:ext cx="5157787" cy="675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655863" y="2560955"/>
            <a:ext cx="5157787" cy="364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094412" y="1879599"/>
            <a:ext cx="5183188" cy="6756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094412" y="2560955"/>
            <a:ext cx="5183188" cy="364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652372" y="647700"/>
            <a:ext cx="411965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540188" y="914400"/>
            <a:ext cx="5737412" cy="502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3200"/>
            </a:lvl1pPr>
            <a:lvl2pPr indent="-36195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00"/>
              <a:buChar char="•"/>
              <a:defRPr sz="28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2400"/>
            </a:lvl3pPr>
            <a:lvl4pPr indent="-32385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2000"/>
            </a:lvl4pPr>
            <a:lvl5pPr indent="-3238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652372" y="2697479"/>
            <a:ext cx="4119654" cy="3246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652372" y="647700"/>
            <a:ext cx="411965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486400" y="914400"/>
            <a:ext cx="5791200" cy="50291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652372" y="2697480"/>
            <a:ext cx="4119654" cy="317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4038749" y="-1290878"/>
            <a:ext cx="3848100" cy="10620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484110" y="2150110"/>
            <a:ext cx="5295901" cy="2291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2064815" y="-764745"/>
            <a:ext cx="5295901" cy="812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  <a:defRPr/>
            </a:lvl1pPr>
            <a:lvl2pPr indent="-31432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2pPr>
            <a:lvl3pPr indent="-31432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5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4325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295275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YrA0gC6HJTM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t/>
            </a:r>
            <a:endParaRPr b="1" sz="280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280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FINAL PROJECT: </a:t>
            </a:r>
            <a:r>
              <a:rPr b="1" lang="en-US" sz="2800">
                <a:solidFill>
                  <a:schemeClr val="lt1"/>
                </a:solidFill>
                <a:highlight>
                  <a:schemeClr val="dk1"/>
                </a:highlight>
                <a:latin typeface="Play"/>
                <a:ea typeface="Play"/>
                <a:cs typeface="Play"/>
                <a:sym typeface="Play"/>
              </a:rPr>
              <a:t>VIRTUAL REALITY OPERATING ROOM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Harvard Extension School Virtual Open House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652375" y="2137000"/>
            <a:ext cx="109563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b="0" i="0" lang="en-US" sz="2100"/>
              <a:t>Type of Project: Engineering</a:t>
            </a:r>
            <a:endParaRPr sz="2100"/>
          </a:p>
          <a:p>
            <a:pPr indent="-1905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b="0" i="0" lang="en-US" sz="2100"/>
              <a:t>Level: Graduate</a:t>
            </a:r>
            <a:endParaRPr sz="2100"/>
          </a:p>
          <a:p>
            <a:pPr indent="-1905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lang="en-US" sz="2100"/>
              <a:t>Group Members:</a:t>
            </a:r>
            <a:endParaRPr sz="2100"/>
          </a:p>
          <a:p>
            <a:pPr indent="0" lvl="2" marL="9144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rPr b="0" i="0" lang="en-US" sz="2100"/>
              <a:t>Nicholas Weber</a:t>
            </a:r>
            <a:endParaRPr sz="2100"/>
          </a:p>
          <a:p>
            <a:pPr indent="0" lvl="2" marL="9144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rPr b="0" i="0" lang="en-US" sz="2100"/>
              <a:t>Ali PiyarAli</a:t>
            </a:r>
            <a:endParaRPr sz="2100"/>
          </a:p>
          <a:p>
            <a:pPr indent="0" lvl="2" marL="9144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rPr b="0" i="0" lang="en-US" sz="2100"/>
              <a:t>Josef Svoboda</a:t>
            </a:r>
            <a:endParaRPr sz="2100"/>
          </a:p>
        </p:txBody>
      </p:sp>
      <p:sp>
        <p:nvSpPr>
          <p:cNvPr id="88" name="Google Shape;88;p1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>
                <a:solidFill>
                  <a:srgbClr val="000000"/>
                </a:solidFill>
              </a:rPr>
              <a:t>Development of a 3D operating room using </a:t>
            </a:r>
            <a:r>
              <a:rPr lang="en-US" sz="1900"/>
              <a:t>Unity which is integrated with a VR wearable (Meta Quest 2)</a:t>
            </a:r>
            <a:r>
              <a:rPr lang="en-US" sz="1900">
                <a:solidFill>
                  <a:srgbClr val="000000"/>
                </a:solidFill>
              </a:rPr>
              <a:t> for potential use in medical education:</a:t>
            </a:r>
            <a:endParaRPr sz="2100"/>
          </a:p>
          <a:p>
            <a:pPr indent="-234950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>
                <a:solidFill>
                  <a:srgbClr val="000000"/>
                </a:solidFill>
              </a:rPr>
              <a:t>Creat</a:t>
            </a:r>
            <a:r>
              <a:rPr lang="en-US" sz="1900">
                <a:solidFill>
                  <a:srgbClr val="000000"/>
                </a:solidFill>
              </a:rPr>
              <a:t>ion</a:t>
            </a:r>
            <a:r>
              <a:rPr lang="en-US" sz="1900">
                <a:solidFill>
                  <a:srgbClr val="000000"/>
                </a:solidFill>
              </a:rPr>
              <a:t> of the operating room scene with relevant prefabs</a:t>
            </a:r>
            <a:endParaRPr sz="1900">
              <a:solidFill>
                <a:srgbClr val="000000"/>
              </a:solidFill>
            </a:endParaRPr>
          </a:p>
          <a:p>
            <a:pPr indent="-234950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/>
              <a:t>Scripting scene creation, object placement, and player movement within the level</a:t>
            </a:r>
            <a:endParaRPr sz="1900"/>
          </a:p>
          <a:p>
            <a:pPr indent="-234950" lvl="1" marL="685800" rtl="0" algn="l">
              <a:spcBef>
                <a:spcPts val="100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/>
              <a:t>Scripting object pick-up and drop actions using physics libraries and raycasting</a:t>
            </a:r>
            <a:endParaRPr sz="1900"/>
          </a:p>
          <a:p>
            <a:pPr indent="-234950" lvl="1" marL="685800" rtl="0" algn="l">
              <a:spcBef>
                <a:spcPts val="100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/>
              <a:t>Scripting object collection in the center of the scene with visual feedback</a:t>
            </a:r>
            <a:endParaRPr sz="1900"/>
          </a:p>
          <a:p>
            <a:pPr indent="-234950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50"/>
              <a:buFont typeface="Play"/>
              <a:buChar char="•"/>
            </a:pPr>
            <a:r>
              <a:rPr lang="en-US" sz="1900">
                <a:solidFill>
                  <a:srgbClr val="000000"/>
                </a:solidFill>
              </a:rPr>
              <a:t>Integration with Meta Quest 2</a:t>
            </a:r>
            <a:endParaRPr sz="1900"/>
          </a:p>
        </p:txBody>
      </p:sp>
      <p:sp>
        <p:nvSpPr>
          <p:cNvPr id="94" name="Google Shape;94;p3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>
            <p:ph idx="4294967295"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PROJECT SUMMARY &amp; KEY RESULTS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Harvard Extension School Virtual Open House"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900"/>
              <a:t>Virtual Reality (VR) is a quickly growing field with wide range of applications, mainly entertainment and education</a:t>
            </a:r>
            <a:endParaRPr sz="1900"/>
          </a:p>
          <a:p>
            <a:pPr indent="-2222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900"/>
              <a:t>Unity 3D is a real-time editor with physics, graphics, and input handling libraries.</a:t>
            </a:r>
            <a:endParaRPr sz="1900"/>
          </a:p>
          <a:p>
            <a:pPr indent="-2222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900"/>
              <a:t>Some previous VR applications in the medical field include:</a:t>
            </a:r>
            <a:endParaRPr sz="1900"/>
          </a:p>
          <a:p>
            <a:pPr indent="-231775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700"/>
              <a:t>Exposure therapy for phobias</a:t>
            </a:r>
            <a:endParaRPr sz="1700"/>
          </a:p>
          <a:p>
            <a:pPr indent="-231775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700"/>
              <a:t>AR autism treatment to interpret human emotions</a:t>
            </a:r>
            <a:endParaRPr sz="1700"/>
          </a:p>
          <a:p>
            <a:pPr indent="-231775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700"/>
              <a:t>An anatomy teaching platform in VR</a:t>
            </a:r>
            <a:endParaRPr sz="1700"/>
          </a:p>
          <a:p>
            <a:pPr indent="-231775" lvl="1" marL="6858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1700"/>
              <a:t>A surgical teaching platform</a:t>
            </a:r>
            <a:endParaRPr sz="1700"/>
          </a:p>
        </p:txBody>
      </p:sp>
      <p:pic>
        <p:nvPicPr>
          <p:cNvPr descr="Harvard Extension School Virtual Open House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4294967295" type="ctrTitle"/>
          </p:nvPr>
        </p:nvSpPr>
        <p:spPr>
          <a:xfrm>
            <a:off x="652350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BACKGROUND REVIEW &amp; PREVIOUS WORK IN THE SPACE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2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75"/>
              <a:buChar char="•"/>
            </a:pPr>
            <a:r>
              <a:rPr lang="en-US" sz="1700"/>
              <a:t>Requirements: Unity, Oculus (Quest Link), Meta Quest 2 (VR Wearable), and C#</a:t>
            </a:r>
            <a:endParaRPr sz="1700"/>
          </a:p>
          <a:p>
            <a:pPr indent="-214312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700"/>
              <a:t>Operating Room Scene</a:t>
            </a:r>
            <a:endParaRPr sz="1700"/>
          </a:p>
          <a:p>
            <a:pPr indent="-215741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Char char="•"/>
            </a:pPr>
            <a:r>
              <a:rPr lang="en-US" sz="1530"/>
              <a:t>Scene Graph</a:t>
            </a:r>
            <a:endParaRPr sz="1530"/>
          </a:p>
          <a:p>
            <a:pPr indent="-215741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Char char="•"/>
            </a:pPr>
            <a:r>
              <a:rPr lang="en-US" sz="1530"/>
              <a:t>Entity-Component Architecture</a:t>
            </a:r>
            <a:endParaRPr sz="1530"/>
          </a:p>
          <a:p>
            <a:pPr indent="-215741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Char char="•"/>
            </a:pPr>
            <a:r>
              <a:rPr lang="en-US" sz="1530"/>
              <a:t>Prefabs</a:t>
            </a:r>
            <a:endParaRPr sz="1700"/>
          </a:p>
        </p:txBody>
      </p:sp>
      <p:pic>
        <p:nvPicPr>
          <p:cNvPr descr="Harvard Extension School Virtual Open House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 txBox="1"/>
          <p:nvPr>
            <p:ph idx="4294967295"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METHODOLOGY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16" name="Google Shape;11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550" y="2525800"/>
            <a:ext cx="5570125" cy="27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ac1783d6d0_2_4"/>
          <p:cNvSpPr txBox="1"/>
          <p:nvPr>
            <p:ph idx="1" type="body"/>
          </p:nvPr>
        </p:nvSpPr>
        <p:spPr>
          <a:xfrm>
            <a:off x="652371" y="2095500"/>
            <a:ext cx="106209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2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700"/>
              <a:t>Components &amp; Scripting</a:t>
            </a:r>
            <a:endParaRPr sz="1700"/>
          </a:p>
          <a:p>
            <a:pPr indent="-223837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530"/>
              <a:t>Object Placement/Spawning (</a:t>
            </a:r>
            <a:r>
              <a:rPr lang="en-US" sz="1530"/>
              <a:t>Poisson Disk Sampling)</a:t>
            </a:r>
            <a:endParaRPr sz="1530"/>
          </a:p>
          <a:p>
            <a:pPr indent="-223837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530"/>
              <a:t>Player Movement (Custom &amp; Unity Standard Assets)</a:t>
            </a:r>
            <a:endParaRPr sz="1530"/>
          </a:p>
          <a:p>
            <a:pPr indent="-223837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530"/>
              <a:t>Picking Up and Dropping Objects</a:t>
            </a:r>
            <a:endParaRPr sz="1530"/>
          </a:p>
          <a:p>
            <a:pPr indent="-215741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Char char="•"/>
            </a:pPr>
            <a:r>
              <a:rPr lang="en-US" sz="1530"/>
              <a:t>Collecting Object with Visual Feedback</a:t>
            </a:r>
            <a:endParaRPr sz="1530"/>
          </a:p>
          <a:p>
            <a:pPr indent="-214312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700"/>
              <a:t>Hardware Integration: Meta Quest 2</a:t>
            </a:r>
            <a:endParaRPr sz="1700"/>
          </a:p>
        </p:txBody>
      </p:sp>
      <p:pic>
        <p:nvPicPr>
          <p:cNvPr descr="Harvard Extension School Virtual Open House" id="122" name="Google Shape;122;g1ac1783d6d0_2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1ac1783d6d0_2_4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4" name="Google Shape;124;g1ac1783d6d0_2_4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1ac1783d6d0_2_4"/>
          <p:cNvSpPr txBox="1"/>
          <p:nvPr>
            <p:ph idx="4294967295"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METHODOLOGY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26" name="Google Shape;126;g1ac1783d6d0_2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8125" y="2322613"/>
            <a:ext cx="3780549" cy="28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culus Cast Video 12 07 2022 03 50 00&#10;&#10;Code: https://github.com/noweber/DGMD-E-14-Final-Project" id="131" name="Google Shape;131;p6" title="DGMD E-14 Final Project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375" y="2190025"/>
            <a:ext cx="5554175" cy="416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ard Extension School Virtual Open House" id="132" name="Google Shape;1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 txBox="1"/>
          <p:nvPr>
            <p:ph idx="4294967295"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DEMO &amp; RESULTS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6754750" y="2540775"/>
            <a:ext cx="47850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4312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75"/>
              <a:buChar char="•"/>
            </a:pPr>
            <a:r>
              <a:rPr lang="en-US" sz="1700"/>
              <a:t>This video was cast from Meta Quest 2 headset to a mobile device for recording.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We have developed a Unity 3D game of an operating room setting with movement and object manipulation for simulating surgery preparation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/>
              <a:t>This can be further extended for specific surgeries with a tutorial interface, specific order of object interaction, non-random object creation, </a:t>
            </a:r>
            <a:r>
              <a:rPr lang="en-US"/>
              <a:t>and/or </a:t>
            </a:r>
            <a:r>
              <a:rPr lang="en-US"/>
              <a:t>educational aspects.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350"/>
              <a:buChar char="•"/>
            </a:pPr>
            <a:r>
              <a:rPr lang="en-US"/>
              <a:t>Improvement of complex VR controls.</a:t>
            </a:r>
            <a:endParaRPr/>
          </a:p>
          <a:p>
            <a:pPr indent="-219075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350"/>
              <a:buChar char="•"/>
            </a:pPr>
            <a:r>
              <a:rPr lang="en-US"/>
              <a:t>Gamification systems, such as scoring and achievements, could promote skill training.</a:t>
            </a:r>
            <a:endParaRPr/>
          </a:p>
        </p:txBody>
      </p:sp>
      <p:pic>
        <p:nvPicPr>
          <p:cNvPr descr="Harvard Extension School Virtual Open House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4346" y="5413043"/>
            <a:ext cx="3424329" cy="6039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 txBox="1"/>
          <p:nvPr/>
        </p:nvSpPr>
        <p:spPr>
          <a:xfrm>
            <a:off x="7615075" y="6016950"/>
            <a:ext cx="399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lay"/>
                <a:ea typeface="Play"/>
                <a:cs typeface="Play"/>
                <a:sym typeface="Play"/>
              </a:rPr>
              <a:t>DGMD14: WEARABLE DEVICES &amp; COMPUTER VISION</a:t>
            </a:r>
            <a:endParaRPr b="1" sz="10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0" y="0"/>
            <a:ext cx="12192000" cy="206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>
            <p:ph idx="4294967295" type="ctrTitle"/>
          </p:nvPr>
        </p:nvSpPr>
        <p:spPr>
          <a:xfrm>
            <a:off x="652375" y="473175"/>
            <a:ext cx="108873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CONCLUSION &amp; POTENTIAL NEXT STEPS</a:t>
            </a:r>
            <a:endParaRPr sz="2800"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ationVTI">
  <a:themeElements>
    <a:clrScheme name="Citation">
      <a:dk1>
        <a:srgbClr val="000000"/>
      </a:dk1>
      <a:lt1>
        <a:srgbClr val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2022-12-07T05:49:16Z</dcterms:created>
  <dc:creator>Josef Svoboda</dc:creator>
</cp:coreProperties>
</file>